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6" r:id="rId2"/>
    <p:sldId id="256" r:id="rId3"/>
    <p:sldId id="257" r:id="rId4"/>
    <p:sldId id="258" r:id="rId5"/>
    <p:sldId id="259" r:id="rId6"/>
    <p:sldId id="260" r:id="rId7"/>
    <p:sldId id="261" r:id="rId8"/>
    <p:sldId id="263" r:id="rId9"/>
    <p:sldId id="265" r:id="rId10"/>
    <p:sldId id="266" r:id="rId11"/>
    <p:sldId id="275"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snapToObjects="1">
      <p:cViewPr varScale="1">
        <p:scale>
          <a:sx n="82" d="100"/>
          <a:sy n="82" d="100"/>
        </p:scale>
        <p:origin x="691"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82C23F-E5D0-6367-073E-28C789E25DA5}"/>
              </a:ext>
            </a:extLst>
          </p:cNvPr>
          <p:cNvSpPr/>
          <p:nvPr/>
        </p:nvSpPr>
        <p:spPr>
          <a:xfrm>
            <a:off x="0" y="0"/>
            <a:ext cx="12188952" cy="64008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3600" b="1" dirty="0"/>
              <a:t>Project Title</a:t>
            </a:r>
            <a:endParaRPr sz="3600" b="1" dirty="0"/>
          </a:p>
        </p:txBody>
      </p:sp>
      <p:sp>
        <p:nvSpPr>
          <p:cNvPr id="6" name="Rounded Rectangle 3">
            <a:extLst>
              <a:ext uri="{FF2B5EF4-FFF2-40B4-BE49-F238E27FC236}">
                <a16:creationId xmlns:a16="http://schemas.microsoft.com/office/drawing/2014/main" id="{38D60722-22BF-EF9F-294A-DFEFCB49525E}"/>
              </a:ext>
            </a:extLst>
          </p:cNvPr>
          <p:cNvSpPr/>
          <p:nvPr/>
        </p:nvSpPr>
        <p:spPr>
          <a:xfrm>
            <a:off x="279918" y="1240971"/>
            <a:ext cx="11495315" cy="4655976"/>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endParaRPr lang="en-IN" dirty="0">
              <a:ln w="0"/>
              <a:solidFill>
                <a:schemeClr val="tx1"/>
              </a:solidFill>
              <a:effectLst>
                <a:outerShdw blurRad="38100" dist="19050" dir="2700000" algn="tl" rotWithShape="0">
                  <a:schemeClr val="dk1">
                    <a:alpha val="40000"/>
                  </a:schemeClr>
                </a:outerShdw>
              </a:effectLst>
            </a:endParaRPr>
          </a:p>
        </p:txBody>
      </p:sp>
      <p:sp>
        <p:nvSpPr>
          <p:cNvPr id="7" name="TextBox 6"/>
          <p:cNvSpPr txBox="1"/>
          <p:nvPr/>
        </p:nvSpPr>
        <p:spPr>
          <a:xfrm>
            <a:off x="975106" y="1920240"/>
            <a:ext cx="10238613" cy="1714500"/>
          </a:xfrm>
          <a:prstGeom prst="rect">
            <a:avLst/>
          </a:prstGeom>
          <a:noFill/>
        </p:spPr>
        <p:txBody>
          <a:bodyPr wrap="none">
            <a:spAutoFit/>
          </a:bodyPr>
          <a:lstStyle/>
          <a:p>
            <a:pPr algn="ctr">
              <a:defRPr sz="3000" b="1">
                <a:solidFill>
                  <a:srgbClr val="123456"/>
                </a:solidFill>
              </a:defRPr>
            </a:pPr>
            <a:r>
              <a:t>Java Application For E-Commerce Implementations</a:t>
            </a:r>
          </a:p>
        </p:txBody>
      </p:sp>
      <p:sp>
        <p:nvSpPr>
          <p:cNvPr id="8" name="TextBox 7"/>
          <p:cNvSpPr txBox="1"/>
          <p:nvPr/>
        </p:nvSpPr>
        <p:spPr>
          <a:xfrm>
            <a:off x="2193988" y="2743200"/>
            <a:ext cx="7800848" cy="822960"/>
          </a:xfrm>
          <a:prstGeom prst="rect">
            <a:avLst/>
          </a:prstGeom>
          <a:noFill/>
        </p:spPr>
        <p:txBody>
          <a:bodyPr wrap="none">
            <a:spAutoFit/>
          </a:bodyPr>
          <a:lstStyle/>
          <a:p>
            <a:pPr algn="ctr">
              <a:defRPr sz="2000">
                <a:solidFill>
                  <a:srgbClr val="505050"/>
                </a:solidFill>
              </a:defRPr>
            </a:pPr>
            <a:r>
              <a:t>Console-Based Shopping Cart using CRUD Operations in Java</a:t>
            </a:r>
          </a:p>
        </p:txBody>
      </p:sp>
    </p:spTree>
    <p:extLst>
      <p:ext uri="{BB962C8B-B14F-4D97-AF65-F5344CB8AC3E}">
        <p14:creationId xmlns:p14="http://schemas.microsoft.com/office/powerpoint/2010/main" val="2861124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13721" y="0"/>
            <a:ext cx="12188952" cy="64008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680212" y="109728"/>
            <a:ext cx="2801087" cy="523220"/>
          </a:xfrm>
          <a:prstGeom prst="rect">
            <a:avLst/>
          </a:prstGeom>
          <a:noFill/>
        </p:spPr>
        <p:txBody>
          <a:bodyPr wrap="none">
            <a:spAutoFit/>
          </a:bodyPr>
          <a:lstStyle/>
          <a:p>
            <a:pPr algn="ctr">
              <a:defRPr sz="2800" b="1">
                <a:solidFill>
                  <a:srgbClr val="FFFFFF"/>
                </a:solidFill>
              </a:defRPr>
            </a:pPr>
            <a:r>
              <a:rPr lang="en-IN" dirty="0"/>
              <a:t>Project Highlights</a:t>
            </a:r>
            <a:endParaRPr dirty="0"/>
          </a:p>
        </p:txBody>
      </p:sp>
      <p:sp>
        <p:nvSpPr>
          <p:cNvPr id="4" name="Rounded Rectangle 3"/>
          <p:cNvSpPr/>
          <p:nvPr/>
        </p:nvSpPr>
        <p:spPr>
          <a:xfrm>
            <a:off x="3131942" y="1240971"/>
            <a:ext cx="5924939" cy="4655976"/>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rPr dirty="0"/>
              <a:t>Project Highlights</a:t>
            </a:r>
          </a:p>
          <a:p>
            <a:pPr>
              <a:defRPr sz="1600">
                <a:solidFill>
                  <a:srgbClr val="1E1E1E"/>
                </a:solidFill>
              </a:defRPr>
            </a:pPr>
            <a:endParaRPr lang="en-IN" dirty="0"/>
          </a:p>
          <a:p>
            <a:pPr>
              <a:defRPr sz="1600">
                <a:solidFill>
                  <a:srgbClr val="1E1E1E"/>
                </a:solidFill>
              </a:defRPr>
            </a:pPr>
            <a:endParaRPr lang="en-IN" dirty="0"/>
          </a:p>
          <a:p>
            <a:pPr>
              <a:defRPr sz="1600">
                <a:solidFill>
                  <a:srgbClr val="1E1E1E"/>
                </a:solidFill>
              </a:defRPr>
            </a:pPr>
            <a:r>
              <a:rPr dirty="0"/>
              <a:t>• Java Console Application</a:t>
            </a:r>
          </a:p>
          <a:p>
            <a:pPr>
              <a:defRPr sz="1600">
                <a:solidFill>
                  <a:srgbClr val="1E1E1E"/>
                </a:solidFill>
              </a:defRPr>
            </a:pPr>
            <a:r>
              <a:rPr dirty="0"/>
              <a:t>• CRUD Operations</a:t>
            </a:r>
          </a:p>
          <a:p>
            <a:pPr>
              <a:defRPr sz="1600">
                <a:solidFill>
                  <a:srgbClr val="1E1E1E"/>
                </a:solidFill>
              </a:defRPr>
            </a:pPr>
            <a:r>
              <a:rPr dirty="0"/>
              <a:t>• Shopping Cart</a:t>
            </a:r>
          </a:p>
          <a:p>
            <a:pPr>
              <a:defRPr sz="1600">
                <a:solidFill>
                  <a:srgbClr val="1E1E1E"/>
                </a:solidFill>
              </a:defRPr>
            </a:pPr>
            <a:r>
              <a:rPr dirty="0"/>
              <a:t>• Cashout &amp; Billing</a:t>
            </a:r>
          </a:p>
          <a:p>
            <a:pPr>
              <a:defRPr sz="1600">
                <a:solidFill>
                  <a:srgbClr val="1E1E1E"/>
                </a:solidFill>
              </a:defRPr>
            </a:pPr>
            <a:r>
              <a:rPr dirty="0"/>
              <a:t>• Menu Driven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365760"/>
          </a:xfrm>
          <a:prstGeom prst="rect">
            <a:avLst/>
          </a:prstGeom>
          <a:noFill/>
        </p:spPr>
        <p:txBody>
          <a:bodyPr wrap="none">
            <a:spAutoFit/>
          </a:bodyPr>
          <a:lstStyle/>
          <a:p>
            <a:pPr algn="ctr">
              <a:defRPr sz="2800" b="1">
                <a:solidFill>
                  <a:srgbClr val="FFFFFF"/>
                </a:solidFill>
              </a:defRPr>
            </a:pPr>
            <a:r>
              <a:t>Project Overview</a:t>
            </a:r>
          </a:p>
        </p:txBody>
      </p:sp>
      <p:sp>
        <p:nvSpPr>
          <p:cNvPr id="4" name="Rounded Rectangle 3"/>
          <p:cNvSpPr/>
          <p:nvPr/>
        </p:nvSpPr>
        <p:spPr>
          <a:xfrm>
            <a:off x="457200" y="822960"/>
            <a:ext cx="11155680" cy="5303520"/>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rPr dirty="0"/>
              <a:t>Abstract</a:t>
            </a:r>
          </a:p>
          <a:p>
            <a:pPr>
              <a:defRPr sz="1600">
                <a:solidFill>
                  <a:srgbClr val="1E1E1E"/>
                </a:solidFill>
              </a:defRPr>
            </a:pPr>
            <a:r>
              <a:rPr dirty="0"/>
              <a:t>• The E-Commerce Management System is a Java-based application developed to manage online shopping operations efficiently. The system allows users to view available products, add products to the shopping cart, update product details, and remove products when required. It implements the basic CRUD operations such as Insert, Update, Delete, and Display to manage product information effectively.</a:t>
            </a:r>
          </a:p>
          <a:p>
            <a:pPr>
              <a:defRPr sz="1600">
                <a:solidFill>
                  <a:srgbClr val="1E1E1E"/>
                </a:solidFill>
              </a:defRPr>
            </a:pPr>
            <a:r>
              <a:rPr dirty="0"/>
              <a:t>• The Insert operation is used to add new products with details such as product ID, name, price, and quantity. The Update operation enables modification of existing product information, including price and stock availability. The Delete operation removes unwanted or unavailable products from the system. The Display operation shows the list of available products and their details to users.</a:t>
            </a:r>
          </a:p>
          <a:p>
            <a:pPr>
              <a:defRPr sz="1600">
                <a:solidFill>
                  <a:srgbClr val="1E1E1E"/>
                </a:solidFill>
              </a:defRPr>
            </a:pPr>
            <a:r>
              <a:rPr dirty="0"/>
              <a:t>• The application also includes cart management and checkout functionalities to simulate a real-world online shopping experience. The project aims to provide a simple, user-friendly, and efficient platform for managing products and customer purchases. This system demonstrates the practical implementation of Java programming concepts, data management, and menu-driven application development in an E-Commerce environment.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365760"/>
          </a:xfrm>
          <a:prstGeom prst="rect">
            <a:avLst/>
          </a:prstGeom>
          <a:noFill/>
        </p:spPr>
        <p:txBody>
          <a:bodyPr wrap="none">
            <a:spAutoFit/>
          </a:bodyPr>
          <a:lstStyle/>
          <a:p>
            <a:pPr algn="ctr">
              <a:defRPr sz="2800" b="1">
                <a:solidFill>
                  <a:srgbClr val="FFFFFF"/>
                </a:solidFill>
              </a:defRPr>
            </a:pPr>
            <a:r>
              <a:t>Algorithm</a:t>
            </a:r>
          </a:p>
        </p:txBody>
      </p:sp>
      <p:sp>
        <p:nvSpPr>
          <p:cNvPr id="4" name="Rounded Rectangle 3"/>
          <p:cNvSpPr/>
          <p:nvPr/>
        </p:nvSpPr>
        <p:spPr>
          <a:xfrm>
            <a:off x="98903" y="749808"/>
            <a:ext cx="11890934" cy="5998464"/>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rPr sz="900" dirty="0"/>
              <a:t>Steps</a:t>
            </a:r>
          </a:p>
          <a:p>
            <a:pPr>
              <a:defRPr sz="1600">
                <a:solidFill>
                  <a:srgbClr val="1E1E1E"/>
                </a:solidFill>
              </a:defRPr>
            </a:pPr>
            <a:r>
              <a:rPr sz="1050" dirty="0"/>
              <a:t>• E-COMMERCE CONSOLE APPLICATION:</a:t>
            </a:r>
          </a:p>
          <a:p>
            <a:pPr>
              <a:defRPr sz="1600">
                <a:solidFill>
                  <a:srgbClr val="1E1E1E"/>
                </a:solidFill>
              </a:defRPr>
            </a:pPr>
            <a:r>
              <a:rPr sz="1050" dirty="0"/>
              <a:t>• ALGORITHM:</a:t>
            </a:r>
            <a:br>
              <a:rPr sz="1050" dirty="0"/>
            </a:br>
            <a:r>
              <a:rPr sz="1050" dirty="0"/>
              <a:t>Step 1: Start</a:t>
            </a:r>
            <a:br>
              <a:rPr sz="1050" dirty="0"/>
            </a:br>
            <a:r>
              <a:rPr sz="1050" dirty="0"/>
              <a:t>1. Start the program.</a:t>
            </a:r>
            <a:br>
              <a:rPr sz="1050" dirty="0"/>
            </a:br>
            <a:r>
              <a:rPr sz="1050" dirty="0"/>
              <a:t>2. Initialize the product list with Product ID, Product Name, and Price.</a:t>
            </a:r>
            <a:br>
              <a:rPr sz="1050" dirty="0"/>
            </a:br>
            <a:r>
              <a:rPr sz="1050" dirty="0"/>
              <a:t>3. Initialize an empty shopping cart.</a:t>
            </a:r>
            <a:br>
              <a:rPr sz="1050" dirty="0"/>
            </a:br>
            <a:br>
              <a:rPr sz="1050" dirty="0"/>
            </a:br>
            <a:r>
              <a:rPr sz="1050" dirty="0"/>
              <a:t>Step 2: Display Menu</a:t>
            </a:r>
            <a:br>
              <a:rPr sz="1050" dirty="0"/>
            </a:br>
            <a:r>
              <a:rPr sz="1050" dirty="0"/>
              <a:t>4. Display the following menu options:</a:t>
            </a:r>
            <a:br>
              <a:rPr sz="1050" dirty="0"/>
            </a:br>
            <a:r>
              <a:rPr sz="1050" dirty="0"/>
              <a:t>   • Display Products</a:t>
            </a:r>
            <a:br>
              <a:rPr sz="1050" dirty="0"/>
            </a:br>
            <a:r>
              <a:rPr sz="1050" dirty="0"/>
              <a:t>   • Add Product to Cart</a:t>
            </a:r>
            <a:br>
              <a:rPr sz="1050" dirty="0"/>
            </a:br>
            <a:r>
              <a:rPr sz="1050" dirty="0"/>
              <a:t>   • Remove Product from Cart</a:t>
            </a:r>
            <a:br>
              <a:rPr sz="1050" dirty="0"/>
            </a:br>
            <a:r>
              <a:rPr sz="1050" dirty="0"/>
              <a:t>   • View Cart</a:t>
            </a:r>
            <a:br>
              <a:rPr sz="1050" dirty="0"/>
            </a:br>
            <a:r>
              <a:rPr sz="1050" dirty="0"/>
              <a:t>   • Checkout</a:t>
            </a:r>
            <a:br>
              <a:rPr sz="1050" dirty="0"/>
            </a:br>
            <a:r>
              <a:rPr sz="1050" dirty="0"/>
              <a:t>   • Exit</a:t>
            </a:r>
            <a:br>
              <a:rPr sz="1050" dirty="0"/>
            </a:br>
            <a:br>
              <a:rPr sz="1050" dirty="0"/>
            </a:br>
            <a:r>
              <a:rPr sz="1050" dirty="0"/>
              <a:t>Step 3: User Choice</a:t>
            </a:r>
            <a:br>
              <a:rPr sz="1050" dirty="0"/>
            </a:br>
            <a:r>
              <a:rPr sz="1050" dirty="0"/>
              <a:t>5. Read the user's choice from the keyboard.</a:t>
            </a:r>
            <a:br>
              <a:rPr sz="1050" dirty="0"/>
            </a:br>
            <a:br>
              <a:rPr sz="1050" dirty="0"/>
            </a:br>
            <a:r>
              <a:rPr sz="1050" dirty="0"/>
              <a:t>Step 4: Perform Operation</a:t>
            </a:r>
            <a:br>
              <a:rPr sz="1050" dirty="0"/>
            </a:br>
            <a:r>
              <a:rPr sz="1050" dirty="0"/>
              <a:t>6. If choice = 1, display all available products.</a:t>
            </a:r>
            <a:br>
              <a:rPr sz="1050" dirty="0"/>
            </a:br>
            <a:r>
              <a:rPr sz="1050" dirty="0"/>
              <a:t>7. If choice = 2, enter Product ID and add the product to the cart.</a:t>
            </a:r>
            <a:br>
              <a:rPr sz="1050" dirty="0"/>
            </a:br>
            <a:r>
              <a:rPr sz="1050" dirty="0"/>
              <a:t>8. If choice = 3, enter Product ID and remove the product from the cart.</a:t>
            </a:r>
            <a:br>
              <a:rPr sz="1050" dirty="0"/>
            </a:br>
            <a:r>
              <a:rPr sz="1050" dirty="0"/>
              <a:t>9. If choice = 4, display cart items and total amount.</a:t>
            </a:r>
            <a:br>
              <a:rPr sz="1050" dirty="0"/>
            </a:br>
            <a:r>
              <a:rPr sz="1050" dirty="0"/>
              <a:t>10. If choice = 5, generate the bill and clear the cart.</a:t>
            </a:r>
            <a:br>
              <a:rPr sz="1050" dirty="0"/>
            </a:br>
            <a:r>
              <a:rPr sz="1050" dirty="0"/>
              <a:t>11. If choice = 6, exit the program.</a:t>
            </a:r>
            <a:br>
              <a:rPr sz="1050" dirty="0"/>
            </a:br>
            <a:r>
              <a:rPr sz="1050" dirty="0"/>
              <a:t>12. Otherwise, display "Invalid Choice".</a:t>
            </a:r>
            <a:br>
              <a:rPr sz="1050" dirty="0"/>
            </a:br>
            <a:br>
              <a:rPr sz="1050" dirty="0"/>
            </a:br>
            <a:r>
              <a:rPr sz="1050" dirty="0"/>
              <a:t>Step 5: Repeat</a:t>
            </a:r>
            <a:br>
              <a:rPr sz="1050" dirty="0"/>
            </a:br>
            <a:r>
              <a:rPr sz="1050" dirty="0"/>
              <a:t>13. Return to the main menu.</a:t>
            </a:r>
            <a:br>
              <a:rPr sz="1050" dirty="0"/>
            </a:br>
            <a:r>
              <a:rPr sz="1050" dirty="0"/>
              <a:t>14. Repeat the process until the user selects Exit.</a:t>
            </a:r>
            <a:br>
              <a:rPr sz="1050" dirty="0"/>
            </a:br>
            <a:br>
              <a:rPr sz="1050" dirty="0"/>
            </a:br>
            <a:r>
              <a:rPr sz="1050" dirty="0"/>
              <a:t>Step 6: Stop</a:t>
            </a:r>
            <a:br>
              <a:rPr sz="1050" dirty="0"/>
            </a:br>
            <a:r>
              <a:rPr sz="1050" dirty="0"/>
              <a:t>15. End the program.</a:t>
            </a:r>
            <a:br>
              <a:rPr sz="1050" dirty="0"/>
            </a:br>
            <a:endParaRPr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365760"/>
          </a:xfrm>
          <a:prstGeom prst="rect">
            <a:avLst/>
          </a:prstGeom>
          <a:noFill/>
        </p:spPr>
        <p:txBody>
          <a:bodyPr wrap="none">
            <a:spAutoFit/>
          </a:bodyPr>
          <a:lstStyle/>
          <a:p>
            <a:pPr algn="ctr">
              <a:defRPr sz="2800" b="1">
                <a:solidFill>
                  <a:srgbClr val="FFFFFF"/>
                </a:solidFill>
              </a:defRPr>
            </a:pPr>
            <a:r>
              <a:t>Flowchart</a:t>
            </a:r>
          </a:p>
        </p:txBody>
      </p:sp>
      <p:pic>
        <p:nvPicPr>
          <p:cNvPr id="4" name="Picture 3" descr="E-commerce Flowchart.png"/>
          <p:cNvPicPr>
            <a:picLocks noChangeAspect="1"/>
          </p:cNvPicPr>
          <p:nvPr/>
        </p:nvPicPr>
        <p:blipFill>
          <a:blip r:embed="rId2"/>
          <a:stretch>
            <a:fillRect/>
          </a:stretch>
        </p:blipFill>
        <p:spPr>
          <a:xfrm>
            <a:off x="226361" y="749808"/>
            <a:ext cx="6583680" cy="5998464"/>
          </a:xfrm>
          <a:prstGeom prst="rect">
            <a:avLst/>
          </a:prstGeom>
        </p:spPr>
      </p:pic>
      <p:sp>
        <p:nvSpPr>
          <p:cNvPr id="5" name="Rounded Rectangle 4"/>
          <p:cNvSpPr/>
          <p:nvPr/>
        </p:nvSpPr>
        <p:spPr>
          <a:xfrm>
            <a:off x="7315200" y="914400"/>
            <a:ext cx="4389120" cy="4389120"/>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t>Explanation</a:t>
            </a:r>
          </a:p>
          <a:p>
            <a:pPr>
              <a:defRPr sz="1600">
                <a:solidFill>
                  <a:srgbClr val="1E1E1E"/>
                </a:solidFill>
              </a:defRPr>
            </a:pPr>
            <a:r>
              <a:t>• Initialize products and cart</a:t>
            </a:r>
          </a:p>
          <a:p>
            <a:pPr>
              <a:defRPr sz="1600">
                <a:solidFill>
                  <a:srgbClr val="1E1E1E"/>
                </a:solidFill>
              </a:defRPr>
            </a:pPr>
            <a:r>
              <a:t>• Display menu</a:t>
            </a:r>
          </a:p>
          <a:p>
            <a:pPr>
              <a:defRPr sz="1600">
                <a:solidFill>
                  <a:srgbClr val="1E1E1E"/>
                </a:solidFill>
              </a:defRPr>
            </a:pPr>
            <a:r>
              <a:t>• Perform selected operation</a:t>
            </a:r>
          </a:p>
          <a:p>
            <a:pPr>
              <a:defRPr sz="1600">
                <a:solidFill>
                  <a:srgbClr val="1E1E1E"/>
                </a:solidFill>
              </a:defRPr>
            </a:pPr>
            <a:r>
              <a:t>• Loop until Exit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365760"/>
          </a:xfrm>
          <a:prstGeom prst="rect">
            <a:avLst/>
          </a:prstGeom>
          <a:noFill/>
        </p:spPr>
        <p:txBody>
          <a:bodyPr wrap="none">
            <a:spAutoFit/>
          </a:bodyPr>
          <a:lstStyle/>
          <a:p>
            <a:pPr algn="ctr">
              <a:defRPr sz="2800" b="1">
                <a:solidFill>
                  <a:srgbClr val="FFFFFF"/>
                </a:solidFill>
              </a:defRPr>
            </a:pPr>
            <a:r>
              <a:t>ER Diagram</a:t>
            </a:r>
          </a:p>
        </p:txBody>
      </p:sp>
      <p:pic>
        <p:nvPicPr>
          <p:cNvPr id="4" name="Picture 3" descr="ER Diagram For E-commerce(2).png"/>
          <p:cNvPicPr>
            <a:picLocks noChangeAspect="1"/>
          </p:cNvPicPr>
          <p:nvPr/>
        </p:nvPicPr>
        <p:blipFill>
          <a:blip r:embed="rId2"/>
          <a:stretch>
            <a:fillRect/>
          </a:stretch>
        </p:blipFill>
        <p:spPr>
          <a:xfrm>
            <a:off x="182880" y="822960"/>
            <a:ext cx="7772400" cy="5181600"/>
          </a:xfrm>
          <a:prstGeom prst="rect">
            <a:avLst/>
          </a:prstGeom>
        </p:spPr>
      </p:pic>
      <p:sp>
        <p:nvSpPr>
          <p:cNvPr id="5" name="Rounded Rectangle 4"/>
          <p:cNvSpPr/>
          <p:nvPr/>
        </p:nvSpPr>
        <p:spPr>
          <a:xfrm>
            <a:off x="8138160" y="914400"/>
            <a:ext cx="3657600" cy="4572000"/>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t>Entities</a:t>
            </a:r>
          </a:p>
          <a:p>
            <a:pPr>
              <a:defRPr sz="1600">
                <a:solidFill>
                  <a:srgbClr val="1E1E1E"/>
                </a:solidFill>
              </a:defRPr>
            </a:pPr>
            <a:r>
              <a:t>• User</a:t>
            </a:r>
          </a:p>
          <a:p>
            <a:pPr>
              <a:defRPr sz="1600">
                <a:solidFill>
                  <a:srgbClr val="1E1E1E"/>
                </a:solidFill>
              </a:defRPr>
            </a:pPr>
            <a:r>
              <a:t>• Product</a:t>
            </a:r>
          </a:p>
          <a:p>
            <a:pPr>
              <a:defRPr sz="1600">
                <a:solidFill>
                  <a:srgbClr val="1E1E1E"/>
                </a:solidFill>
              </a:defRPr>
            </a:pPr>
            <a:r>
              <a:t>• Order</a:t>
            </a:r>
          </a:p>
          <a:p>
            <a:pPr>
              <a:defRPr sz="1600">
                <a:solidFill>
                  <a:srgbClr val="1E1E1E"/>
                </a:solidFill>
              </a:defRPr>
            </a:pPr>
            <a:r>
              <a:t>• Order Item</a:t>
            </a:r>
          </a:p>
          <a:p>
            <a:pPr>
              <a:defRPr sz="1600">
                <a:solidFill>
                  <a:srgbClr val="1E1E1E"/>
                </a:solidFill>
              </a:defRPr>
            </a:pPr>
            <a:r>
              <a:t>• Payment</a:t>
            </a:r>
          </a:p>
          <a:p>
            <a:pPr>
              <a:defRPr sz="1600">
                <a:solidFill>
                  <a:srgbClr val="1E1E1E"/>
                </a:solidFill>
              </a:defRPr>
            </a:pPr>
            <a:r>
              <a:t>• Shipment</a:t>
            </a:r>
          </a:p>
          <a:p>
            <a:pPr>
              <a:defRPr sz="1600">
                <a:solidFill>
                  <a:srgbClr val="1E1E1E"/>
                </a:solidFill>
              </a:defRPr>
            </a:pPr>
            <a:r>
              <a:t>• Address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012759" y="109728"/>
            <a:ext cx="4136005" cy="523220"/>
          </a:xfrm>
          <a:prstGeom prst="rect">
            <a:avLst/>
          </a:prstGeom>
          <a:noFill/>
        </p:spPr>
        <p:txBody>
          <a:bodyPr wrap="none">
            <a:spAutoFit/>
          </a:bodyPr>
          <a:lstStyle/>
          <a:p>
            <a:pPr algn="ctr">
              <a:defRPr sz="2800" b="1">
                <a:solidFill>
                  <a:srgbClr val="FFFFFF"/>
                </a:solidFill>
              </a:defRPr>
            </a:pPr>
            <a:r>
              <a:rPr dirty="0"/>
              <a:t>Insert </a:t>
            </a:r>
            <a:r>
              <a:rPr lang="en-IN" dirty="0"/>
              <a:t>&amp; Display </a:t>
            </a:r>
            <a:r>
              <a:rPr dirty="0"/>
              <a:t>Operation</a:t>
            </a:r>
          </a:p>
        </p:txBody>
      </p:sp>
      <p:sp>
        <p:nvSpPr>
          <p:cNvPr id="4" name="Rounded Rectangle 3"/>
          <p:cNvSpPr/>
          <p:nvPr/>
        </p:nvSpPr>
        <p:spPr>
          <a:xfrm>
            <a:off x="608012" y="1234440"/>
            <a:ext cx="5486400" cy="4389120"/>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rPr dirty="0"/>
              <a:t>Insert</a:t>
            </a:r>
          </a:p>
          <a:p>
            <a:pPr>
              <a:defRPr sz="1600">
                <a:solidFill>
                  <a:srgbClr val="1E1E1E"/>
                </a:solidFill>
              </a:defRPr>
            </a:pPr>
            <a:r>
              <a:rPr dirty="0"/>
              <a:t>• Adds new product using Product ID, Name, Price and Quantity.</a:t>
            </a:r>
          </a:p>
          <a:p>
            <a:pPr>
              <a:defRPr sz="1600">
                <a:solidFill>
                  <a:srgbClr val="1E1E1E"/>
                </a:solidFill>
              </a:defRPr>
            </a:pPr>
            <a:r>
              <a:rPr dirty="0"/>
              <a:t>• Method is executed through menu selection.</a:t>
            </a:r>
          </a:p>
          <a:p>
            <a:pPr>
              <a:defRPr sz="1600">
                <a:solidFill>
                  <a:srgbClr val="1E1E1E"/>
                </a:solidFill>
              </a:defRPr>
            </a:pPr>
            <a:r>
              <a:rPr dirty="0"/>
              <a:t>• Shows success/error message.</a:t>
            </a:r>
          </a:p>
        </p:txBody>
      </p:sp>
      <p:sp>
        <p:nvSpPr>
          <p:cNvPr id="6" name="Rounded Rectangle 3">
            <a:extLst>
              <a:ext uri="{FF2B5EF4-FFF2-40B4-BE49-F238E27FC236}">
                <a16:creationId xmlns:a16="http://schemas.microsoft.com/office/drawing/2014/main" id="{C02BA300-1508-88A0-A7C8-89F97FBB4151}"/>
              </a:ext>
            </a:extLst>
          </p:cNvPr>
          <p:cNvSpPr/>
          <p:nvPr/>
        </p:nvSpPr>
        <p:spPr>
          <a:xfrm>
            <a:off x="6309360" y="1234440"/>
            <a:ext cx="5486400" cy="4389120"/>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t>Display</a:t>
            </a:r>
          </a:p>
          <a:p>
            <a:pPr>
              <a:defRPr sz="1600">
                <a:solidFill>
                  <a:srgbClr val="1E1E1E"/>
                </a:solidFill>
              </a:defRPr>
            </a:pPr>
            <a:r>
              <a:t>• Displays all available products.</a:t>
            </a:r>
          </a:p>
          <a:p>
            <a:pPr>
              <a:defRPr sz="1600">
                <a:solidFill>
                  <a:srgbClr val="1E1E1E"/>
                </a:solidFill>
              </a:defRPr>
            </a:pPr>
            <a:r>
              <a:t>• Method is executed through menu selection.</a:t>
            </a:r>
          </a:p>
          <a:p>
            <a:pPr>
              <a:defRPr sz="1600">
                <a:solidFill>
                  <a:srgbClr val="1E1E1E"/>
                </a:solidFill>
              </a:defRPr>
            </a:pPr>
            <a:r>
              <a:t>• Shows success/error message.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949441" y="109728"/>
            <a:ext cx="4262642" cy="523220"/>
          </a:xfrm>
          <a:prstGeom prst="rect">
            <a:avLst/>
          </a:prstGeom>
          <a:noFill/>
        </p:spPr>
        <p:txBody>
          <a:bodyPr wrap="none">
            <a:spAutoFit/>
          </a:bodyPr>
          <a:lstStyle/>
          <a:p>
            <a:pPr algn="ctr">
              <a:defRPr sz="2800" b="1">
                <a:solidFill>
                  <a:srgbClr val="FFFFFF"/>
                </a:solidFill>
              </a:defRPr>
            </a:pPr>
            <a:r>
              <a:rPr dirty="0"/>
              <a:t>Update</a:t>
            </a:r>
            <a:r>
              <a:rPr lang="en-IN" dirty="0"/>
              <a:t> &amp; Delete</a:t>
            </a:r>
            <a:r>
              <a:rPr dirty="0"/>
              <a:t> Operation</a:t>
            </a:r>
          </a:p>
        </p:txBody>
      </p:sp>
      <p:sp>
        <p:nvSpPr>
          <p:cNvPr id="4" name="Rounded Rectangle 3"/>
          <p:cNvSpPr/>
          <p:nvPr/>
        </p:nvSpPr>
        <p:spPr>
          <a:xfrm>
            <a:off x="731520" y="914400"/>
            <a:ext cx="5486400" cy="4389120"/>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t>Update</a:t>
            </a:r>
          </a:p>
          <a:p>
            <a:pPr>
              <a:defRPr sz="1600">
                <a:solidFill>
                  <a:srgbClr val="1E1E1E"/>
                </a:solidFill>
              </a:defRPr>
            </a:pPr>
            <a:r>
              <a:t>• Updates existing product details.</a:t>
            </a:r>
          </a:p>
          <a:p>
            <a:pPr>
              <a:defRPr sz="1600">
                <a:solidFill>
                  <a:srgbClr val="1E1E1E"/>
                </a:solidFill>
              </a:defRPr>
            </a:pPr>
            <a:r>
              <a:t>• Method is executed through menu selection.</a:t>
            </a:r>
          </a:p>
          <a:p>
            <a:pPr>
              <a:defRPr sz="1600">
                <a:solidFill>
                  <a:srgbClr val="1E1E1E"/>
                </a:solidFill>
              </a:defRPr>
            </a:pPr>
            <a:r>
              <a:t>• Shows success/error message.</a:t>
            </a:r>
          </a:p>
        </p:txBody>
      </p:sp>
      <p:sp>
        <p:nvSpPr>
          <p:cNvPr id="6" name="Rounded Rectangle 3">
            <a:extLst>
              <a:ext uri="{FF2B5EF4-FFF2-40B4-BE49-F238E27FC236}">
                <a16:creationId xmlns:a16="http://schemas.microsoft.com/office/drawing/2014/main" id="{AC63C955-561B-14AB-474F-656E23B7CEC8}"/>
              </a:ext>
            </a:extLst>
          </p:cNvPr>
          <p:cNvSpPr/>
          <p:nvPr/>
        </p:nvSpPr>
        <p:spPr>
          <a:xfrm>
            <a:off x="6454296" y="914400"/>
            <a:ext cx="5486400" cy="4389120"/>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t>Delete</a:t>
            </a:r>
          </a:p>
          <a:p>
            <a:pPr>
              <a:defRPr sz="1600">
                <a:solidFill>
                  <a:srgbClr val="1E1E1E"/>
                </a:solidFill>
              </a:defRPr>
            </a:pPr>
            <a:r>
              <a:t>• Deletes product using Product ID.</a:t>
            </a:r>
          </a:p>
          <a:p>
            <a:pPr>
              <a:defRPr sz="1600">
                <a:solidFill>
                  <a:srgbClr val="1E1E1E"/>
                </a:solidFill>
              </a:defRPr>
            </a:pPr>
            <a:r>
              <a:t>• Method is executed through menu selection.</a:t>
            </a:r>
          </a:p>
          <a:p>
            <a:pPr>
              <a:defRPr sz="1600">
                <a:solidFill>
                  <a:srgbClr val="1E1E1E"/>
                </a:solidFill>
              </a:defRPr>
            </a:pPr>
            <a:r>
              <a:t>• Shows success/error message.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395926" y="109728"/>
            <a:ext cx="5369675" cy="523220"/>
          </a:xfrm>
          <a:prstGeom prst="rect">
            <a:avLst/>
          </a:prstGeom>
          <a:noFill/>
        </p:spPr>
        <p:txBody>
          <a:bodyPr wrap="none">
            <a:spAutoFit/>
          </a:bodyPr>
          <a:lstStyle/>
          <a:p>
            <a:pPr algn="ctr">
              <a:defRPr sz="2800" b="1">
                <a:solidFill>
                  <a:srgbClr val="FFFFFF"/>
                </a:solidFill>
              </a:defRPr>
            </a:pPr>
            <a:r>
              <a:rPr dirty="0"/>
              <a:t>Add To Cart</a:t>
            </a:r>
            <a:r>
              <a:rPr lang="en-IN" dirty="0"/>
              <a:t> &amp; View Cart</a:t>
            </a:r>
            <a:r>
              <a:rPr dirty="0"/>
              <a:t> Operation</a:t>
            </a:r>
          </a:p>
        </p:txBody>
      </p:sp>
      <p:sp>
        <p:nvSpPr>
          <p:cNvPr id="4" name="Rounded Rectangle 3"/>
          <p:cNvSpPr/>
          <p:nvPr/>
        </p:nvSpPr>
        <p:spPr>
          <a:xfrm>
            <a:off x="594360" y="1101012"/>
            <a:ext cx="5486400" cy="4389120"/>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t>Add To Cart</a:t>
            </a:r>
          </a:p>
          <a:p>
            <a:pPr>
              <a:defRPr sz="1600">
                <a:solidFill>
                  <a:srgbClr val="1E1E1E"/>
                </a:solidFill>
              </a:defRPr>
            </a:pPr>
            <a:r>
              <a:t>• Adds selected products into shopping cart.</a:t>
            </a:r>
          </a:p>
          <a:p>
            <a:pPr>
              <a:defRPr sz="1600">
                <a:solidFill>
                  <a:srgbClr val="1E1E1E"/>
                </a:solidFill>
              </a:defRPr>
            </a:pPr>
            <a:r>
              <a:t>• Method is executed through menu selection.</a:t>
            </a:r>
          </a:p>
          <a:p>
            <a:pPr>
              <a:defRPr sz="1600">
                <a:solidFill>
                  <a:srgbClr val="1E1E1E"/>
                </a:solidFill>
              </a:defRPr>
            </a:pPr>
            <a:r>
              <a:t>• Shows success/error message.</a:t>
            </a:r>
          </a:p>
        </p:txBody>
      </p:sp>
      <p:sp>
        <p:nvSpPr>
          <p:cNvPr id="6" name="Rounded Rectangle 3">
            <a:extLst>
              <a:ext uri="{FF2B5EF4-FFF2-40B4-BE49-F238E27FC236}">
                <a16:creationId xmlns:a16="http://schemas.microsoft.com/office/drawing/2014/main" id="{5F547136-80A7-2871-0D24-9E95391542D2}"/>
              </a:ext>
            </a:extLst>
          </p:cNvPr>
          <p:cNvSpPr/>
          <p:nvPr/>
        </p:nvSpPr>
        <p:spPr>
          <a:xfrm>
            <a:off x="6432524" y="1101012"/>
            <a:ext cx="5486400" cy="4389120"/>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rPr dirty="0"/>
              <a:t>View Cart</a:t>
            </a:r>
          </a:p>
          <a:p>
            <a:pPr>
              <a:defRPr sz="1600">
                <a:solidFill>
                  <a:srgbClr val="1E1E1E"/>
                </a:solidFill>
              </a:defRPr>
            </a:pPr>
            <a:r>
              <a:rPr dirty="0"/>
              <a:t>• Shows purchased items and total amount.</a:t>
            </a:r>
          </a:p>
          <a:p>
            <a:pPr>
              <a:defRPr sz="1600">
                <a:solidFill>
                  <a:srgbClr val="1E1E1E"/>
                </a:solidFill>
              </a:defRPr>
            </a:pPr>
            <a:r>
              <a:rPr dirty="0"/>
              <a:t>• Method is executed through menu selection.</a:t>
            </a:r>
          </a:p>
          <a:p>
            <a:pPr>
              <a:defRPr sz="1600">
                <a:solidFill>
                  <a:srgbClr val="1E1E1E"/>
                </a:solidFill>
              </a:defRPr>
            </a:pPr>
            <a:r>
              <a:rPr dirty="0"/>
              <a:t>• Shows success/error message.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86603" y="109728"/>
            <a:ext cx="2988319" cy="523220"/>
          </a:xfrm>
          <a:prstGeom prst="rect">
            <a:avLst/>
          </a:prstGeom>
          <a:noFill/>
        </p:spPr>
        <p:txBody>
          <a:bodyPr wrap="none">
            <a:spAutoFit/>
          </a:bodyPr>
          <a:lstStyle/>
          <a:p>
            <a:pPr algn="ctr">
              <a:defRPr sz="2800" b="1">
                <a:solidFill>
                  <a:srgbClr val="FFFFFF"/>
                </a:solidFill>
              </a:defRPr>
            </a:pPr>
            <a:r>
              <a:rPr lang="en-IN" dirty="0"/>
              <a:t>Cashout</a:t>
            </a:r>
            <a:r>
              <a:rPr dirty="0"/>
              <a:t> Operation</a:t>
            </a:r>
          </a:p>
        </p:txBody>
      </p:sp>
      <p:sp>
        <p:nvSpPr>
          <p:cNvPr id="6" name="Rounded Rectangle 3">
            <a:extLst>
              <a:ext uri="{FF2B5EF4-FFF2-40B4-BE49-F238E27FC236}">
                <a16:creationId xmlns:a16="http://schemas.microsoft.com/office/drawing/2014/main" id="{A46F988D-0679-D858-9DC1-8C88F518AE83}"/>
              </a:ext>
            </a:extLst>
          </p:cNvPr>
          <p:cNvSpPr/>
          <p:nvPr/>
        </p:nvSpPr>
        <p:spPr>
          <a:xfrm>
            <a:off x="3351212" y="1234440"/>
            <a:ext cx="5486400" cy="4389120"/>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rPr dirty="0"/>
              <a:t>Cashout</a:t>
            </a:r>
          </a:p>
          <a:p>
            <a:pPr>
              <a:defRPr sz="1600">
                <a:solidFill>
                  <a:srgbClr val="1E1E1E"/>
                </a:solidFill>
              </a:defRPr>
            </a:pPr>
            <a:r>
              <a:rPr dirty="0"/>
              <a:t>• Generates invoice and clears cart.</a:t>
            </a:r>
          </a:p>
          <a:p>
            <a:pPr>
              <a:defRPr sz="1600">
                <a:solidFill>
                  <a:srgbClr val="1E1E1E"/>
                </a:solidFill>
              </a:defRPr>
            </a:pPr>
            <a:r>
              <a:rPr dirty="0"/>
              <a:t>• Method is executed through menu selection.</a:t>
            </a:r>
          </a:p>
          <a:p>
            <a:pPr>
              <a:defRPr sz="1600">
                <a:solidFill>
                  <a:srgbClr val="1E1E1E"/>
                </a:solidFill>
              </a:defRPr>
            </a:pPr>
            <a:r>
              <a:rPr dirty="0"/>
              <a:t>• Shows success/error message.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123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365760"/>
          </a:xfrm>
          <a:prstGeom prst="rect">
            <a:avLst/>
          </a:prstGeom>
          <a:noFill/>
        </p:spPr>
        <p:txBody>
          <a:bodyPr wrap="none">
            <a:spAutoFit/>
          </a:bodyPr>
          <a:lstStyle/>
          <a:p>
            <a:pPr algn="ctr">
              <a:defRPr sz="2800" b="1">
                <a:solidFill>
                  <a:srgbClr val="FFFFFF"/>
                </a:solidFill>
              </a:defRPr>
            </a:pPr>
            <a:r>
              <a:t>Methods Used</a:t>
            </a:r>
          </a:p>
        </p:txBody>
      </p:sp>
      <p:sp>
        <p:nvSpPr>
          <p:cNvPr id="4" name="Rounded Rectangle 3"/>
          <p:cNvSpPr/>
          <p:nvPr/>
        </p:nvSpPr>
        <p:spPr>
          <a:xfrm>
            <a:off x="548640" y="914400"/>
            <a:ext cx="10972800" cy="4572000"/>
          </a:xfrm>
          <a:prstGeom prst="roundRect">
            <a:avLst/>
          </a:prstGeom>
          <a:solidFill>
            <a:srgbClr val="FFFFFF"/>
          </a:solidFill>
          <a:ln>
            <a:solidFill>
              <a:srgbClr val="B4B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23456"/>
                </a:solidFill>
              </a:defRPr>
            </a:pPr>
            <a:r>
              <a:rPr dirty="0"/>
              <a:t>Methods</a:t>
            </a:r>
          </a:p>
          <a:p>
            <a:pPr>
              <a:defRPr sz="1600">
                <a:solidFill>
                  <a:srgbClr val="1E1E1E"/>
                </a:solidFill>
              </a:defRPr>
            </a:pPr>
            <a:endParaRPr lang="en-IN" dirty="0"/>
          </a:p>
          <a:p>
            <a:pPr>
              <a:defRPr sz="1600">
                <a:solidFill>
                  <a:srgbClr val="1E1E1E"/>
                </a:solidFill>
              </a:defRPr>
            </a:pPr>
            <a:r>
              <a:rPr dirty="0"/>
              <a:t>• </a:t>
            </a:r>
            <a:r>
              <a:rPr dirty="0" err="1"/>
              <a:t>insertProduct</a:t>
            </a:r>
            <a:r>
              <a:rPr dirty="0"/>
              <a:t>()</a:t>
            </a:r>
          </a:p>
          <a:p>
            <a:pPr>
              <a:defRPr sz="1600">
                <a:solidFill>
                  <a:srgbClr val="1E1E1E"/>
                </a:solidFill>
              </a:defRPr>
            </a:pPr>
            <a:r>
              <a:rPr dirty="0"/>
              <a:t>• </a:t>
            </a:r>
            <a:r>
              <a:rPr dirty="0" err="1"/>
              <a:t>displayProducts</a:t>
            </a:r>
            <a:r>
              <a:rPr dirty="0"/>
              <a:t>()</a:t>
            </a:r>
          </a:p>
          <a:p>
            <a:pPr>
              <a:defRPr sz="1600">
                <a:solidFill>
                  <a:srgbClr val="1E1E1E"/>
                </a:solidFill>
              </a:defRPr>
            </a:pPr>
            <a:r>
              <a:rPr dirty="0"/>
              <a:t>• </a:t>
            </a:r>
            <a:r>
              <a:rPr dirty="0" err="1"/>
              <a:t>updateProduct</a:t>
            </a:r>
            <a:r>
              <a:rPr dirty="0"/>
              <a:t>()</a:t>
            </a:r>
          </a:p>
          <a:p>
            <a:pPr>
              <a:defRPr sz="1600">
                <a:solidFill>
                  <a:srgbClr val="1E1E1E"/>
                </a:solidFill>
              </a:defRPr>
            </a:pPr>
            <a:r>
              <a:rPr dirty="0"/>
              <a:t>• </a:t>
            </a:r>
            <a:r>
              <a:rPr dirty="0" err="1"/>
              <a:t>deleteProduct</a:t>
            </a:r>
            <a:r>
              <a:rPr dirty="0"/>
              <a:t>()</a:t>
            </a:r>
          </a:p>
          <a:p>
            <a:pPr>
              <a:defRPr sz="1600">
                <a:solidFill>
                  <a:srgbClr val="1E1E1E"/>
                </a:solidFill>
              </a:defRPr>
            </a:pPr>
            <a:r>
              <a:rPr dirty="0"/>
              <a:t>• </a:t>
            </a:r>
            <a:r>
              <a:rPr dirty="0" err="1"/>
              <a:t>addToCart</a:t>
            </a:r>
            <a:r>
              <a:rPr dirty="0"/>
              <a:t>()</a:t>
            </a:r>
          </a:p>
          <a:p>
            <a:pPr>
              <a:defRPr sz="1600">
                <a:solidFill>
                  <a:srgbClr val="1E1E1E"/>
                </a:solidFill>
              </a:defRPr>
            </a:pPr>
            <a:r>
              <a:rPr dirty="0"/>
              <a:t>• </a:t>
            </a:r>
            <a:r>
              <a:rPr dirty="0" err="1"/>
              <a:t>viewCart</a:t>
            </a:r>
            <a:r>
              <a:rPr dirty="0"/>
              <a:t>()</a:t>
            </a:r>
          </a:p>
          <a:p>
            <a:pPr>
              <a:defRPr sz="1600">
                <a:solidFill>
                  <a:srgbClr val="1E1E1E"/>
                </a:solidFill>
              </a:defRPr>
            </a:pPr>
            <a:r>
              <a:rPr dirty="0"/>
              <a:t>• cashout()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TotalTime>
  <Words>747</Words>
  <Application>Microsoft Office PowerPoint</Application>
  <PresentationFormat>Custom</PresentationFormat>
  <Paragraphs>78</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RAGAVARAM P R</cp:lastModifiedBy>
  <cp:revision>5</cp:revision>
  <dcterms:created xsi:type="dcterms:W3CDTF">2013-01-27T09:14:16Z</dcterms:created>
  <dcterms:modified xsi:type="dcterms:W3CDTF">2026-07-02T16:45:23Z</dcterms:modified>
  <cp:category/>
</cp:coreProperties>
</file>